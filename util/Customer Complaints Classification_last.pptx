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DM Sans Bold" charset="1" panose="00000000000000000000"/>
      <p:regular r:id="rId23"/>
    </p:embeddedFont>
    <p:embeddedFont>
      <p:font typeface="Merriweather Bold" charset="1" panose="00000800000000000000"/>
      <p:regular r:id="rId24"/>
    </p:embeddedFont>
    <p:embeddedFont>
      <p:font typeface="DM Sans" charset="1" panose="00000000000000000000"/>
      <p:regular r:id="rId25"/>
    </p:embeddedFont>
    <p:embeddedFont>
      <p:font typeface="Fira Code" charset="1" panose="020B080905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5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2" Target="../media/image3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jpe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2" Target="../media/image3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5.png" Type="http://schemas.openxmlformats.org/officeDocument/2006/relationships/image"/><Relationship Id="rId4" Target="../media/image7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png" Type="http://schemas.openxmlformats.org/officeDocument/2006/relationships/image"/><Relationship Id="rId2" Target="../media/image3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64731" y="6454378"/>
            <a:ext cx="11158538" cy="642938"/>
            <a:chOff x="0" y="0"/>
            <a:chExt cx="14878050" cy="8572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4878050" cy="857250"/>
            </a:xfrm>
            <a:custGeom>
              <a:avLst/>
              <a:gdLst/>
              <a:ahLst/>
              <a:cxnLst/>
              <a:rect r="r" b="b" t="t" l="l"/>
              <a:pathLst>
                <a:path h="857250" w="14878050">
                  <a:moveTo>
                    <a:pt x="0" y="0"/>
                  </a:moveTo>
                  <a:lnTo>
                    <a:pt x="14878050" y="0"/>
                  </a:lnTo>
                  <a:lnTo>
                    <a:pt x="1487805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45" r="0" b="-104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86562" y="3189684"/>
            <a:ext cx="4714875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DM Sans Bold"/>
                <a:ea typeface="DM Sans Bold"/>
                <a:cs typeface="DM Sans Bold"/>
                <a:sym typeface="DM Sans Bold"/>
              </a:rPr>
              <a:t>NATURAL LANGUAGE PROCESSING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8237" y="3527822"/>
            <a:ext cx="12211526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5175" b="tru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Customer Complaints Classification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29000" y="4520803"/>
            <a:ext cx="114300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</a:pPr>
            <a:r>
              <a:rPr lang="en-US" sz="22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 NLP system that classifies customer complaints into product categories and routes uncertain cases for manual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29612" y="6054328"/>
            <a:ext cx="16287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64731" y="6811566"/>
            <a:ext cx="19002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Mostafa Mohamed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0719" y="6811566"/>
            <a:ext cx="857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22194" y="6811566"/>
            <a:ext cx="17287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Mohamed Emam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6731" y="6811566"/>
            <a:ext cx="857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08206" y="6811566"/>
            <a:ext cx="13430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Mohamed Ali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6981" y="6811566"/>
            <a:ext cx="857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8456" y="6811566"/>
            <a:ext cx="16859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Mohamed Sherif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80131" y="6811566"/>
            <a:ext cx="857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1606" y="6811566"/>
            <a:ext cx="187166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Mohamed Medhat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5491196" cy="10287000"/>
          </a:xfrm>
          <a:custGeom>
            <a:avLst/>
            <a:gdLst/>
            <a:ahLst/>
            <a:cxnLst/>
            <a:rect r="r" b="b" t="t" l="l"/>
            <a:pathLst>
              <a:path h="10287000" w="5491196">
                <a:moveTo>
                  <a:pt x="0" y="0"/>
                </a:moveTo>
                <a:lnTo>
                  <a:pt x="5491196" y="0"/>
                </a:lnTo>
                <a:lnTo>
                  <a:pt x="5491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60558" y="721708"/>
            <a:ext cx="4934069" cy="59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System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255170" y="3845566"/>
            <a:ext cx="11473018" cy="3890453"/>
            <a:chOff x="0" y="0"/>
            <a:chExt cx="7111898" cy="241161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87268" y="4059440"/>
            <a:ext cx="10572032" cy="345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221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The system follows a hybrid AI architecture for automated c</a:t>
            </a:r>
            <a:r>
              <a:rPr lang="en-US" sz="221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ustomer complaint handling. The complaint is submitted through the Streamlit Web UI and classified using a TF-IDF + Calibrated LinearSVC pipeline. Based on the model’s confidence, high-confidence complaints are processed through RAG, where relevant rules are retrieved from a JSON knowledge base and provided to the Qwen 27B LLM to generate a structured response. Low-confidence cases are instead escalated to a human supervisor to ensure reliability and prevent incorrect automated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398634"/>
            <a:ext cx="8086725" cy="4797028"/>
            <a:chOff x="0" y="0"/>
            <a:chExt cx="10782300" cy="639603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6395974"/>
            </a:xfrm>
            <a:custGeom>
              <a:avLst/>
              <a:gdLst/>
              <a:ahLst/>
              <a:cxnLst/>
              <a:rect r="r" b="b" t="t" l="l"/>
              <a:pathLst>
                <a:path h="6395974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6395974"/>
                  </a:lnTo>
                  <a:lnTo>
                    <a:pt x="0" y="639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6" r="0" b="-1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3398634"/>
            <a:ext cx="8086725" cy="2343150"/>
            <a:chOff x="0" y="0"/>
            <a:chExt cx="10782300" cy="3124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3124200"/>
            </a:xfrm>
            <a:custGeom>
              <a:avLst/>
              <a:gdLst/>
              <a:ahLst/>
              <a:cxnLst/>
              <a:rect r="r" b="b" t="t" l="l"/>
              <a:pathLst>
                <a:path h="312420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3124200"/>
                  </a:lnTo>
                  <a:lnTo>
                    <a:pt x="0" y="312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4" r="0" b="-30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44025" y="6027534"/>
            <a:ext cx="8086725" cy="2168128"/>
            <a:chOff x="0" y="0"/>
            <a:chExt cx="10782300" cy="289083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782300" cy="2890774"/>
            </a:xfrm>
            <a:custGeom>
              <a:avLst/>
              <a:gdLst/>
              <a:ahLst/>
              <a:cxnLst/>
              <a:rect r="r" b="b" t="t" l="l"/>
              <a:pathLst>
                <a:path h="2890774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890774"/>
                  </a:lnTo>
                  <a:lnTo>
                    <a:pt x="0" y="289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12" r="0" b="-41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System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3812972"/>
            <a:ext cx="756094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System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4284459"/>
            <a:ext cx="7200900" cy="112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Complaints Classification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is an automated text-classification system designed to read raw consumer complaint narratives and predict the relevant financial product.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738" y="5575916"/>
            <a:ext cx="7200900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Automated prediction enables real-time routing to target specialized teams without manual sorting overhead.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5512" y="3812972"/>
            <a:ext cx="756094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Target Categories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5512" y="6727622"/>
            <a:ext cx="7200900" cy="10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</a:pPr>
            <a:r>
              <a:rPr lang="en-US" sz="1687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When the model is not confident enough in a prediction, the complaint is routed to </a:t>
            </a:r>
            <a:r>
              <a:rPr lang="en-US" sz="1687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"Other Problem"</a:t>
            </a:r>
            <a:r>
              <a:rPr lang="en-US" sz="1687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for manual review instead of being force-classified.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15512" y="4298747"/>
            <a:ext cx="1657350" cy="442912"/>
            <a:chOff x="0" y="0"/>
            <a:chExt cx="2209800" cy="5905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209800" cy="590550"/>
            </a:xfrm>
            <a:custGeom>
              <a:avLst/>
              <a:gdLst/>
              <a:ahLst/>
              <a:cxnLst/>
              <a:rect r="r" b="b" t="t" l="l"/>
              <a:pathLst>
                <a:path h="59055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12" r="0" b="-161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15738" y="4298747"/>
            <a:ext cx="2000250" cy="442912"/>
            <a:chOff x="0" y="0"/>
            <a:chExt cx="2667000" cy="5905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667000" cy="590550"/>
            </a:xfrm>
            <a:custGeom>
              <a:avLst/>
              <a:gdLst/>
              <a:ahLst/>
              <a:cxnLst/>
              <a:rect r="r" b="b" t="t" l="l"/>
              <a:pathLst>
                <a:path h="59055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12" r="0" b="-161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58862" y="4298747"/>
            <a:ext cx="2228850" cy="442912"/>
            <a:chOff x="0" y="0"/>
            <a:chExt cx="2971800" cy="5905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971800" cy="590550"/>
            </a:xfrm>
            <a:custGeom>
              <a:avLst/>
              <a:gdLst/>
              <a:ahLst/>
              <a:cxnLst/>
              <a:rect r="r" b="b" t="t" l="l"/>
              <a:pathLst>
                <a:path h="590550" w="2971800">
                  <a:moveTo>
                    <a:pt x="0" y="0"/>
                  </a:moveTo>
                  <a:lnTo>
                    <a:pt x="2971800" y="0"/>
                  </a:lnTo>
                  <a:lnTo>
                    <a:pt x="29718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12" r="0" b="-161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15512" y="4884534"/>
            <a:ext cx="2114550" cy="442912"/>
            <a:chOff x="0" y="0"/>
            <a:chExt cx="2819400" cy="5905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819400" cy="590550"/>
            </a:xfrm>
            <a:custGeom>
              <a:avLst/>
              <a:gdLst/>
              <a:ahLst/>
              <a:cxnLst/>
              <a:rect r="r" b="b" t="t" l="l"/>
              <a:pathLst>
                <a:path h="5905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612" r="0" b="-161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72938" y="4884534"/>
            <a:ext cx="2571750" cy="442912"/>
            <a:chOff x="0" y="0"/>
            <a:chExt cx="3429000" cy="5905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429000" cy="590550"/>
            </a:xfrm>
            <a:custGeom>
              <a:avLst/>
              <a:gdLst/>
              <a:ahLst/>
              <a:cxnLst/>
              <a:rect r="r" b="b" t="t" l="l"/>
              <a:pathLst>
                <a:path h="5905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612" r="0" b="-161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15512" y="6441872"/>
            <a:ext cx="228600" cy="228600"/>
            <a:chOff x="0" y="0"/>
            <a:chExt cx="304800" cy="3048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25" r="0" b="-3125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86988" y="6441872"/>
            <a:ext cx="30003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97316"/>
                </a:solidFill>
                <a:latin typeface="DM Sans Bold"/>
                <a:ea typeface="DM Sans Bold"/>
                <a:cs typeface="DM Sans Bold"/>
                <a:sym typeface="DM Sans Bold"/>
              </a:rPr>
              <a:t>SMART FALLBACK MECHANISM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44025" y="2899696"/>
            <a:ext cx="8086725" cy="5794696"/>
            <a:chOff x="0" y="0"/>
            <a:chExt cx="10782300" cy="772626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7726299"/>
            </a:xfrm>
            <a:custGeom>
              <a:avLst/>
              <a:gdLst/>
              <a:ahLst/>
              <a:cxnLst/>
              <a:rect r="r" b="b" t="t" l="l"/>
              <a:pathLst>
                <a:path h="7726299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7726299"/>
                  </a:lnTo>
                  <a:lnTo>
                    <a:pt x="0" y="7726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5" r="0" b="-17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899696"/>
            <a:ext cx="8086725" cy="2420169"/>
            <a:chOff x="0" y="0"/>
            <a:chExt cx="10782300" cy="322689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3226943"/>
            </a:xfrm>
            <a:custGeom>
              <a:avLst/>
              <a:gdLst/>
              <a:ahLst/>
              <a:cxnLst/>
              <a:rect r="r" b="b" t="t" l="l"/>
              <a:pathLst>
                <a:path h="3226943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3226943"/>
                  </a:lnTo>
                  <a:lnTo>
                    <a:pt x="0" y="3226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5" r="0" b="-4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577040"/>
            <a:ext cx="8086725" cy="3117352"/>
            <a:chOff x="0" y="0"/>
            <a:chExt cx="10782300" cy="415646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782300" cy="4156456"/>
            </a:xfrm>
            <a:custGeom>
              <a:avLst/>
              <a:gdLst/>
              <a:ahLst/>
              <a:cxnLst/>
              <a:rect r="r" b="b" t="t" l="l"/>
              <a:pathLst>
                <a:path h="4156456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4156456"/>
                  </a:lnTo>
                  <a:lnTo>
                    <a:pt x="0" y="4156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6" r="0" b="-18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8688" y="3885533"/>
            <a:ext cx="4657725" cy="400050"/>
            <a:chOff x="0" y="0"/>
            <a:chExt cx="6210300" cy="53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69" r="0" b="-147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58688" y="4457033"/>
            <a:ext cx="4657725" cy="400050"/>
            <a:chOff x="0" y="0"/>
            <a:chExt cx="621030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69" r="0" b="-147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8688" y="5028533"/>
            <a:ext cx="4657725" cy="400050"/>
            <a:chOff x="0" y="0"/>
            <a:chExt cx="6210300" cy="533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69" r="0" b="-147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58688" y="5600033"/>
            <a:ext cx="4657725" cy="400050"/>
            <a:chOff x="0" y="0"/>
            <a:chExt cx="6210300" cy="533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69" r="0" b="-14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58688" y="6171533"/>
            <a:ext cx="4657725" cy="400050"/>
            <a:chOff x="0" y="0"/>
            <a:chExt cx="6210300" cy="533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69" r="0" b="-147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58688" y="3885533"/>
            <a:ext cx="4657725" cy="400050"/>
            <a:chOff x="0" y="0"/>
            <a:chExt cx="621030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21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69" r="0" b="-147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58688" y="4457033"/>
            <a:ext cx="1490367" cy="400050"/>
            <a:chOff x="0" y="0"/>
            <a:chExt cx="1987156" cy="533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987169" cy="533400"/>
            </a:xfrm>
            <a:custGeom>
              <a:avLst/>
              <a:gdLst/>
              <a:ahLst/>
              <a:cxnLst/>
              <a:rect r="r" b="b" t="t" l="l"/>
              <a:pathLst>
                <a:path h="533400" w="1987169">
                  <a:moveTo>
                    <a:pt x="0" y="0"/>
                  </a:moveTo>
                  <a:lnTo>
                    <a:pt x="1987169" y="0"/>
                  </a:lnTo>
                  <a:lnTo>
                    <a:pt x="1987169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447" r="0" b="-144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58688" y="5028533"/>
            <a:ext cx="1257519" cy="400050"/>
            <a:chOff x="0" y="0"/>
            <a:chExt cx="1676692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676654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654">
                  <a:moveTo>
                    <a:pt x="0" y="0"/>
                  </a:moveTo>
                  <a:lnTo>
                    <a:pt x="1676654" y="0"/>
                  </a:lnTo>
                  <a:lnTo>
                    <a:pt x="1676654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11" r="-2" b="-12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58688" y="5600033"/>
            <a:ext cx="1071115" cy="400050"/>
            <a:chOff x="0" y="0"/>
            <a:chExt cx="1428153" cy="533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428115" cy="533400"/>
            </a:xfrm>
            <a:custGeom>
              <a:avLst/>
              <a:gdLst/>
              <a:ahLst/>
              <a:cxnLst/>
              <a:rect r="r" b="b" t="t" l="l"/>
              <a:pathLst>
                <a:path h="533400" w="1428115">
                  <a:moveTo>
                    <a:pt x="0" y="0"/>
                  </a:moveTo>
                  <a:lnTo>
                    <a:pt x="1428115" y="0"/>
                  </a:lnTo>
                  <a:lnTo>
                    <a:pt x="142811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83" r="-2" b="-108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58688" y="6171533"/>
            <a:ext cx="465687" cy="400050"/>
            <a:chOff x="0" y="0"/>
            <a:chExt cx="620916" cy="5334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620903" cy="533400"/>
            </a:xfrm>
            <a:custGeom>
              <a:avLst/>
              <a:gdLst/>
              <a:ahLst/>
              <a:cxnLst/>
              <a:rect r="r" b="b" t="t" l="l"/>
              <a:pathLst>
                <a:path h="533400" w="620903">
                  <a:moveTo>
                    <a:pt x="0" y="0"/>
                  </a:moveTo>
                  <a:lnTo>
                    <a:pt x="620903" y="0"/>
                  </a:lnTo>
                  <a:lnTo>
                    <a:pt x="620903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47" r="-2" b="-1147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DATA CONTEXT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Project Overview &amp; Dataset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58362" y="3314033"/>
            <a:ext cx="762095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Category Distribution (Raw Data)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88" y="3314033"/>
            <a:ext cx="762095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Project Scope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588" y="3785521"/>
            <a:ext cx="7258050" cy="112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multi-class NLP classification pipeline trained on real consumer complaint narratives, built to automatically route each complaint to its correct product category with confidence thresholding.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588" y="5991377"/>
            <a:ext cx="762095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Dataset Metadata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1588" y="6462865"/>
            <a:ext cx="72580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Source: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CFPB Complaints (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complaints_processed.csv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1588" y="6931447"/>
            <a:ext cx="72580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Columns: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product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narrative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1588" y="7400030"/>
            <a:ext cx="72580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Raw Volume: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162,421 records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588" y="7868612"/>
            <a:ext cx="72580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Classes: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5 primary product categories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58362" y="3956971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credit_reporting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58362" y="4528471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debt_collection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58362" y="5099971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mortgages_and_loans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58362" y="5671471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credit_card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58362" y="6242971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retail_banking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845566"/>
            <a:ext cx="5333924" cy="1808712"/>
            <a:chOff x="0" y="0"/>
            <a:chExt cx="7111898" cy="241161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11873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" r="0" b="-7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76924" y="3845566"/>
            <a:ext cx="5333924" cy="1808712"/>
            <a:chOff x="0" y="0"/>
            <a:chExt cx="7111898" cy="241161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11873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598" y="3845566"/>
            <a:ext cx="5334152" cy="1808712"/>
            <a:chOff x="0" y="0"/>
            <a:chExt cx="7112203" cy="241161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2254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2" r="0" b="-7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5940028"/>
            <a:ext cx="5333924" cy="1808712"/>
            <a:chOff x="0" y="0"/>
            <a:chExt cx="7111898" cy="241161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11873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64" r="0" b="-46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76924" y="5940028"/>
            <a:ext cx="5333924" cy="1808712"/>
            <a:chOff x="0" y="0"/>
            <a:chExt cx="7111898" cy="2411616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11873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4" r="0" b="-4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96598" y="5940028"/>
            <a:ext cx="5334152" cy="1808712"/>
            <a:chOff x="0" y="0"/>
            <a:chExt cx="7112203" cy="2411616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12254" cy="2411603"/>
            </a:xfrm>
            <a:custGeom>
              <a:avLst/>
              <a:gdLst/>
              <a:ahLst/>
              <a:cxnLst/>
              <a:rect r="r" b="b" t="t" l="l"/>
              <a:pathLst>
                <a:path h="2411603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2411603"/>
                  </a:lnTo>
                  <a:lnTo>
                    <a:pt x="0" y="241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6" r="0" b="-46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4438" y="4202754"/>
            <a:ext cx="514350" cy="514350"/>
            <a:chOff x="0" y="0"/>
            <a:chExt cx="685800" cy="685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388" r="0" b="-138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34111" y="4202754"/>
            <a:ext cx="514350" cy="514350"/>
            <a:chOff x="0" y="0"/>
            <a:chExt cx="6858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453785" y="4202754"/>
            <a:ext cx="514350" cy="514350"/>
            <a:chOff x="0" y="0"/>
            <a:chExt cx="6858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4438" y="6297216"/>
            <a:ext cx="514350" cy="514350"/>
            <a:chOff x="0" y="0"/>
            <a:chExt cx="6858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388" r="0" b="-138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34111" y="6297216"/>
            <a:ext cx="514350" cy="514350"/>
            <a:chOff x="0" y="0"/>
            <a:chExt cx="6858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53785" y="6297216"/>
            <a:ext cx="514350" cy="514350"/>
            <a:chOff x="0" y="0"/>
            <a:chExt cx="685800" cy="685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Workflow Phases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57388" y="4193229"/>
            <a:ext cx="40704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Environment Preparations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7388" y="4531366"/>
            <a:ext cx="3876599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Setup Jupyter environment &amp; libraries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77061" y="4193229"/>
            <a:ext cx="40704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Reading &amp; Cleaning Data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77061" y="4531366"/>
            <a:ext cx="3876599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Missing value removal &amp; deduplication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96735" y="4193229"/>
            <a:ext cx="40706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Feature Engineering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96735" y="4531366"/>
            <a:ext cx="3876827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Text normalization &amp; TF-IDF vectorization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57388" y="6287691"/>
            <a:ext cx="400550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Exploratory Data Analysis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57388" y="6625828"/>
            <a:ext cx="3814762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Class distributions &amp; length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77061" y="6287691"/>
            <a:ext cx="40704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Applying AI Models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77061" y="6625828"/>
            <a:ext cx="3876599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Classical ML vs Deep Learning models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96735" y="6287691"/>
            <a:ext cx="40706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Deployment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96735" y="6625828"/>
            <a:ext cx="3876827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Inference pipeline with threshold routing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709835"/>
            <a:ext cx="8086725" cy="4174627"/>
            <a:chOff x="0" y="0"/>
            <a:chExt cx="10782300" cy="5566169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5566156"/>
            </a:xfrm>
            <a:custGeom>
              <a:avLst/>
              <a:gdLst/>
              <a:ahLst/>
              <a:cxnLst/>
              <a:rect r="r" b="b" t="t" l="l"/>
              <a:pathLst>
                <a:path h="5566156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5566156"/>
                  </a:lnTo>
                  <a:lnTo>
                    <a:pt x="0" y="556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8" r="0" b="-1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3709835"/>
            <a:ext cx="8086725" cy="4174627"/>
            <a:chOff x="0" y="0"/>
            <a:chExt cx="10782300" cy="5566169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5566156"/>
            </a:xfrm>
            <a:custGeom>
              <a:avLst/>
              <a:gdLst/>
              <a:ahLst/>
              <a:cxnLst/>
              <a:rect r="r" b="b" t="t" l="l"/>
              <a:pathLst>
                <a:path h="5566156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5566156"/>
                  </a:lnTo>
                  <a:lnTo>
                    <a:pt x="0" y="556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8" r="0" b="-1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44075" y="4552798"/>
            <a:ext cx="7286625" cy="1542602"/>
            <a:chOff x="0" y="0"/>
            <a:chExt cx="9715500" cy="2056803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715500" cy="2056765"/>
            </a:xfrm>
            <a:custGeom>
              <a:avLst/>
              <a:gdLst/>
              <a:ahLst/>
              <a:cxnLst/>
              <a:rect r="r" b="b" t="t" l="l"/>
              <a:pathLst>
                <a:path h="2056765" w="9715500">
                  <a:moveTo>
                    <a:pt x="0" y="0"/>
                  </a:moveTo>
                  <a:lnTo>
                    <a:pt x="9715500" y="0"/>
                  </a:lnTo>
                  <a:lnTo>
                    <a:pt x="9715500" y="2056765"/>
                  </a:lnTo>
                  <a:lnTo>
                    <a:pt x="0" y="2056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77" r="0" b="-47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1. Environment Preparations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4124173"/>
            <a:ext cx="756094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Technical Setup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4595660"/>
            <a:ext cx="7200900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All technical execution and experiments were conducted within interactive </a:t>
            </a: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Jupyter Notebooks (.ipynb)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738" y="5532834"/>
            <a:ext cx="7200900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Core numerical computation, data manipulation, serialization, and string parsing modules were initialized upfront.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8738" y="6641459"/>
            <a:ext cx="72009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CORE DEPENDENCIES: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86975" y="4109885"/>
            <a:ext cx="6943725" cy="242888"/>
            <a:chOff x="0" y="0"/>
            <a:chExt cx="9258300" cy="323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58300" cy="323850"/>
            </a:xfrm>
            <a:custGeom>
              <a:avLst/>
              <a:gdLst/>
              <a:ahLst/>
              <a:cxnLst/>
              <a:rect r="r" b="b" t="t" l="l"/>
              <a:pathLst>
                <a:path h="323850" w="9258300">
                  <a:moveTo>
                    <a:pt x="0" y="0"/>
                  </a:moveTo>
                  <a:lnTo>
                    <a:pt x="9258300" y="0"/>
                  </a:lnTo>
                  <a:lnTo>
                    <a:pt x="9258300" y="323850"/>
                  </a:lnTo>
                  <a:lnTo>
                    <a:pt x="0" y="3238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7042" r="0" b="-5070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2583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CLASSIFIER.PY IMPORTS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8738" y="7027221"/>
            <a:ext cx="1085850" cy="442912"/>
            <a:chOff x="0" y="0"/>
            <a:chExt cx="1447800" cy="5905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447800" cy="590550"/>
            </a:xfrm>
            <a:custGeom>
              <a:avLst/>
              <a:gdLst/>
              <a:ahLst/>
              <a:cxnLst/>
              <a:rect r="r" b="b" t="t" l="l"/>
              <a:pathLst>
                <a:path h="59055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12" r="0" b="-161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57462" y="7027221"/>
            <a:ext cx="971550" cy="442912"/>
            <a:chOff x="0" y="0"/>
            <a:chExt cx="1295400" cy="5905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295400" cy="590550"/>
            </a:xfrm>
            <a:custGeom>
              <a:avLst/>
              <a:gdLst/>
              <a:ahLst/>
              <a:cxnLst/>
              <a:rect r="r" b="b" t="t" l="l"/>
              <a:pathLst>
                <a:path h="59055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12" r="0" b="-161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71888" y="7027221"/>
            <a:ext cx="1085850" cy="442912"/>
            <a:chOff x="0" y="0"/>
            <a:chExt cx="1447800" cy="5905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447800" cy="590550"/>
            </a:xfrm>
            <a:custGeom>
              <a:avLst/>
              <a:gdLst/>
              <a:ahLst/>
              <a:cxnLst/>
              <a:rect r="r" b="b" t="t" l="l"/>
              <a:pathLst>
                <a:path h="59055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612" r="0" b="-161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00612" y="7027221"/>
            <a:ext cx="1543050" cy="442912"/>
            <a:chOff x="0" y="0"/>
            <a:chExt cx="2057400" cy="5905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057400" cy="590550"/>
            </a:xfrm>
            <a:custGeom>
              <a:avLst/>
              <a:gdLst/>
              <a:ahLst/>
              <a:cxnLst/>
              <a:rect r="r" b="b" t="t" l="l"/>
              <a:pathLst>
                <a:path h="59055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612" r="0" b="-161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44075" y="4138460"/>
            <a:ext cx="228600" cy="185738"/>
            <a:chOff x="0" y="0"/>
            <a:chExt cx="30480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846" r="0" b="-384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025378"/>
            <a:ext cx="8086725" cy="5543550"/>
            <a:chOff x="0" y="0"/>
            <a:chExt cx="10782300" cy="7391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7391400"/>
            </a:xfrm>
            <a:custGeom>
              <a:avLst/>
              <a:gdLst/>
              <a:ahLst/>
              <a:cxnLst/>
              <a:rect r="r" b="b" t="t" l="l"/>
              <a:pathLst>
                <a:path h="739140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7391400"/>
                  </a:lnTo>
                  <a:lnTo>
                    <a:pt x="0" y="739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8" r="0" b="-12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3025378"/>
            <a:ext cx="8086725" cy="1671638"/>
            <a:chOff x="0" y="0"/>
            <a:chExt cx="10782300" cy="2228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2228850"/>
            </a:xfrm>
            <a:custGeom>
              <a:avLst/>
              <a:gdLst/>
              <a:ahLst/>
              <a:cxnLst/>
              <a:rect r="r" b="b" t="t" l="l"/>
              <a:pathLst>
                <a:path h="222885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228850"/>
                  </a:lnTo>
                  <a:lnTo>
                    <a:pt x="0" y="222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7" r="0" b="-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44025" y="4925616"/>
            <a:ext cx="8086725" cy="1671638"/>
            <a:chOff x="0" y="0"/>
            <a:chExt cx="10782300" cy="22288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782300" cy="2228850"/>
            </a:xfrm>
            <a:custGeom>
              <a:avLst/>
              <a:gdLst/>
              <a:ahLst/>
              <a:cxnLst/>
              <a:rect r="r" b="b" t="t" l="l"/>
              <a:pathLst>
                <a:path h="222885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228850"/>
                  </a:lnTo>
                  <a:lnTo>
                    <a:pt x="0" y="222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7" r="0" b="-42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44025" y="6825853"/>
            <a:ext cx="8086725" cy="1743075"/>
            <a:chOff x="0" y="0"/>
            <a:chExt cx="10782300" cy="2324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7823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09" r="0" b="-40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2. Reading &amp; Cleaning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738" y="3439716"/>
            <a:ext cx="75609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 Preprocessing Steps (01_data_exploration.ipynb)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8788" y="4268391"/>
            <a:ext cx="68008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Dropped redundant index column (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Unnamed: 0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8788" y="4822698"/>
            <a:ext cx="68008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Removed records missing narrative text (10 null rows)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8788" y="5377015"/>
            <a:ext cx="68008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Eliminated exact duplicate complaints (37,735 duplicate rows)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8788" y="5931322"/>
            <a:ext cx="6800850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Filtered out short placeholder text (narratives ≤ 10 characters, e.g., "name")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5512" y="3439716"/>
            <a:ext cx="72009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162,421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15512" y="4039791"/>
            <a:ext cx="72009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DM Sans Bold"/>
                <a:ea typeface="DM Sans Bold"/>
                <a:cs typeface="DM Sans Bold"/>
                <a:sym typeface="DM Sans Bold"/>
              </a:rPr>
              <a:t>RAW ROWS LOADED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15512" y="5339953"/>
            <a:ext cx="72009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162,411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5512" y="5940028"/>
            <a:ext cx="72009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DM Sans Bold"/>
                <a:ea typeface="DM Sans Bold"/>
                <a:cs typeface="DM Sans Bold"/>
                <a:sym typeface="DM Sans Bold"/>
              </a:rPr>
              <a:t>POST DROPNA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5512" y="7240191"/>
            <a:ext cx="7200900" cy="6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059669"/>
                </a:solidFill>
                <a:latin typeface="DM Sans Bold"/>
                <a:ea typeface="DM Sans Bold"/>
                <a:cs typeface="DM Sans Bold"/>
                <a:sym typeface="DM Sans Bold"/>
              </a:rPr>
              <a:t>124,620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15512" y="7911703"/>
            <a:ext cx="72009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059669"/>
                </a:solidFill>
                <a:latin typeface="DM Sans Bold"/>
                <a:ea typeface="DM Sans Bold"/>
                <a:cs typeface="DM Sans Bold"/>
                <a:sym typeface="DM Sans Bold"/>
              </a:rPr>
              <a:t>FINAL CLEANED DATASET SIZE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28738" y="4368403"/>
            <a:ext cx="228600" cy="228600"/>
            <a:chOff x="0" y="0"/>
            <a:chExt cx="304800" cy="3048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28738" y="4922710"/>
            <a:ext cx="228600" cy="228600"/>
            <a:chOff x="0" y="0"/>
            <a:chExt cx="304800" cy="3048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28738" y="5477027"/>
            <a:ext cx="228600" cy="228600"/>
            <a:chOff x="0" y="0"/>
            <a:chExt cx="304800" cy="3048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738" y="6031335"/>
            <a:ext cx="228600" cy="228600"/>
            <a:chOff x="0" y="0"/>
            <a:chExt cx="304800" cy="3048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708721"/>
            <a:ext cx="5295748" cy="4176636"/>
            <a:chOff x="0" y="0"/>
            <a:chExt cx="7060997" cy="556884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60946" cy="5568823"/>
            </a:xfrm>
            <a:custGeom>
              <a:avLst/>
              <a:gdLst/>
              <a:ahLst/>
              <a:cxnLst/>
              <a:rect r="r" b="b" t="t" l="l"/>
              <a:pathLst>
                <a:path h="5568823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568823"/>
                  </a:lnTo>
                  <a:lnTo>
                    <a:pt x="0" y="5568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8" r="0" b="-6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95898" y="3708721"/>
            <a:ext cx="5295976" cy="4176636"/>
            <a:chOff x="0" y="0"/>
            <a:chExt cx="7061302" cy="556884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61327" cy="5568823"/>
            </a:xfrm>
            <a:custGeom>
              <a:avLst/>
              <a:gdLst/>
              <a:ahLst/>
              <a:cxnLst/>
              <a:rect r="r" b="b" t="t" l="l"/>
              <a:pathLst>
                <a:path h="5568823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5568823"/>
                  </a:lnTo>
                  <a:lnTo>
                    <a:pt x="0" y="5568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4" t="0" r="-6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34774" y="3708721"/>
            <a:ext cx="5295748" cy="4176636"/>
            <a:chOff x="0" y="0"/>
            <a:chExt cx="7060997" cy="556884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60946" cy="5568823"/>
            </a:xfrm>
            <a:custGeom>
              <a:avLst/>
              <a:gdLst/>
              <a:ahLst/>
              <a:cxnLst/>
              <a:rect r="r" b="b" t="t" l="l"/>
              <a:pathLst>
                <a:path h="5568823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5568823"/>
                  </a:lnTo>
                  <a:lnTo>
                    <a:pt x="0" y="5568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8" r="0" b="-6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3. Feature Engineering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8738" y="4123058"/>
            <a:ext cx="457200" cy="400050"/>
            <a:chOff x="0" y="0"/>
            <a:chExt cx="60960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85" r="0" b="-178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28738" y="4723133"/>
            <a:ext cx="463042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Text Cleaning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8738" y="5204146"/>
            <a:ext cx="4409923" cy="33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462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Function: </a:t>
            </a:r>
            <a:r>
              <a:rPr lang="en-US" sz="1462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clean_text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67385" y="4123058"/>
            <a:ext cx="400050" cy="400050"/>
            <a:chOff x="0" y="0"/>
            <a:chExt cx="533400" cy="533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67385" y="4723133"/>
            <a:ext cx="463065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Train / Test Split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7385" y="5204146"/>
            <a:ext cx="4410151" cy="33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462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Stratified Partitioning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06261" y="4123058"/>
            <a:ext cx="357188" cy="400050"/>
            <a:chOff x="0" y="0"/>
            <a:chExt cx="47625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7" t="0" r="-205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606261" y="4723133"/>
            <a:ext cx="463042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TF-IDF Vectorizer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6261" y="5204146"/>
            <a:ext cx="4409923" cy="33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462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Feature Parameters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2088" y="5653830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Convert text to lowercase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2088" y="6122413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Remove redacted tokens ("xxxx")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2088" y="6591005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Remove non-alphabetic characters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2088" y="7059587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Collapse extra spaces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7385" y="5653830"/>
            <a:ext cx="4410151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80%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Training 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67385" y="6122413"/>
            <a:ext cx="4410151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20%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Test Set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67385" y="6591005"/>
            <a:ext cx="4410151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random_state = 42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67385" y="7059587"/>
            <a:ext cx="4410151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Stratified by target product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39611" y="5653830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max_features: 10,000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39611" y="6122413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ngram_range: (1, 2)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39611" y="6591005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min_df: 5 | max_df: 0.8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39611" y="7059587"/>
            <a:ext cx="4276573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sublinear_tf: True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28738" y="5753843"/>
            <a:ext cx="200025" cy="228600"/>
            <a:chOff x="0" y="0"/>
            <a:chExt cx="266700" cy="3048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8738" y="6222425"/>
            <a:ext cx="200025" cy="228600"/>
            <a:chOff x="0" y="0"/>
            <a:chExt cx="266700" cy="3048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8738" y="6691017"/>
            <a:ext cx="200025" cy="228600"/>
            <a:chOff x="0" y="0"/>
            <a:chExt cx="266700" cy="3048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28738" y="7159600"/>
            <a:ext cx="200025" cy="228600"/>
            <a:chOff x="0" y="0"/>
            <a:chExt cx="266700" cy="3048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606261" y="5753843"/>
            <a:ext cx="200025" cy="228600"/>
            <a:chOff x="0" y="0"/>
            <a:chExt cx="266700" cy="3048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606261" y="6222425"/>
            <a:ext cx="200025" cy="228600"/>
            <a:chOff x="0" y="0"/>
            <a:chExt cx="266700" cy="3048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06261" y="6691017"/>
            <a:ext cx="200025" cy="228600"/>
            <a:chOff x="0" y="0"/>
            <a:chExt cx="266700" cy="3048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06261" y="7159600"/>
            <a:ext cx="200025" cy="228600"/>
            <a:chOff x="0" y="0"/>
            <a:chExt cx="266700" cy="3048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466500"/>
            <a:ext cx="16573500" cy="4661297"/>
            <a:chOff x="0" y="0"/>
            <a:chExt cx="22098000" cy="621506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6214999"/>
            </a:xfrm>
            <a:custGeom>
              <a:avLst/>
              <a:gdLst/>
              <a:ahLst/>
              <a:cxnLst/>
              <a:rect r="r" b="b" t="t" l="l"/>
              <a:pathLst>
                <a:path h="6214999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6214999"/>
                  </a:lnTo>
                  <a:lnTo>
                    <a:pt x="0" y="6214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5" r="0" b="-11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71912" y="5027409"/>
            <a:ext cx="13144500" cy="400050"/>
            <a:chOff x="0" y="0"/>
            <a:chExt cx="17526000" cy="533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3" r="0" b="-16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71912" y="5598909"/>
            <a:ext cx="13144500" cy="400050"/>
            <a:chOff x="0" y="0"/>
            <a:chExt cx="17526000" cy="533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3" r="0" b="-167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71912" y="6170409"/>
            <a:ext cx="13144500" cy="400050"/>
            <a:chOff x="0" y="0"/>
            <a:chExt cx="17526000" cy="53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3" r="0" b="-167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71912" y="6741909"/>
            <a:ext cx="13144500" cy="400050"/>
            <a:chOff x="0" y="0"/>
            <a:chExt cx="1752600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3" r="0" b="-167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71912" y="7313409"/>
            <a:ext cx="13144500" cy="400050"/>
            <a:chOff x="0" y="0"/>
            <a:chExt cx="17526000" cy="533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3" r="0" b="-167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71912" y="5027409"/>
            <a:ext cx="13144500" cy="400050"/>
            <a:chOff x="0" y="0"/>
            <a:chExt cx="17526000" cy="533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75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73" r="0" b="-167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71912" y="5598909"/>
            <a:ext cx="4206107" cy="400050"/>
            <a:chOff x="0" y="0"/>
            <a:chExt cx="5608142" cy="533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608193" cy="533400"/>
            </a:xfrm>
            <a:custGeom>
              <a:avLst/>
              <a:gdLst/>
              <a:ahLst/>
              <a:cxnLst/>
              <a:rect r="r" b="b" t="t" l="l"/>
              <a:pathLst>
                <a:path h="533400" w="5608193">
                  <a:moveTo>
                    <a:pt x="0" y="0"/>
                  </a:moveTo>
                  <a:lnTo>
                    <a:pt x="5608193" y="0"/>
                  </a:lnTo>
                  <a:lnTo>
                    <a:pt x="5608193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04" r="0" b="-150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871912" y="6170409"/>
            <a:ext cx="3548882" cy="400050"/>
            <a:chOff x="0" y="0"/>
            <a:chExt cx="4731842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731893" cy="533400"/>
            </a:xfrm>
            <a:custGeom>
              <a:avLst/>
              <a:gdLst/>
              <a:ahLst/>
              <a:cxnLst/>
              <a:rect r="r" b="b" t="t" l="l"/>
              <a:pathLst>
                <a:path h="533400" w="4731893">
                  <a:moveTo>
                    <a:pt x="0" y="0"/>
                  </a:moveTo>
                  <a:lnTo>
                    <a:pt x="4731893" y="0"/>
                  </a:lnTo>
                  <a:lnTo>
                    <a:pt x="4731893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59" r="1" b="-165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71912" y="6741909"/>
            <a:ext cx="3023149" cy="400050"/>
            <a:chOff x="0" y="0"/>
            <a:chExt cx="4030866" cy="533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030853" cy="533400"/>
            </a:xfrm>
            <a:custGeom>
              <a:avLst/>
              <a:gdLst/>
              <a:ahLst/>
              <a:cxnLst/>
              <a:rect r="r" b="b" t="t" l="l"/>
              <a:pathLst>
                <a:path h="533400" w="4030853">
                  <a:moveTo>
                    <a:pt x="0" y="0"/>
                  </a:moveTo>
                  <a:lnTo>
                    <a:pt x="4030853" y="0"/>
                  </a:lnTo>
                  <a:lnTo>
                    <a:pt x="4030853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442" r="0" b="-144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71912" y="7313409"/>
            <a:ext cx="1314450" cy="400050"/>
            <a:chOff x="0" y="0"/>
            <a:chExt cx="1752600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75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28" r="0" b="-1228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4. Exploratory Data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1588" y="3880837"/>
            <a:ext cx="16532066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Category Distribution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1588" y="4352325"/>
            <a:ext cx="15744825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</a:pPr>
            <a:r>
              <a:rPr lang="en-US" sz="1687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Significant class imbalance was identified during EDA, with credit reporting dominating the consumer complaints.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588" y="5098847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credit_reporting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1588" y="5670347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debt_collection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588" y="6241847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mortgages_and_loans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88" y="6813347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credit_card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588" y="7384847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retail_banking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108771"/>
            <a:ext cx="8086725" cy="4016569"/>
            <a:chOff x="0" y="0"/>
            <a:chExt cx="10782300" cy="53554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5355463"/>
            </a:xfrm>
            <a:custGeom>
              <a:avLst/>
              <a:gdLst/>
              <a:ahLst/>
              <a:cxnLst/>
              <a:rect r="r" b="b" t="t" l="l"/>
              <a:pathLst>
                <a:path h="5355463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5355463"/>
                  </a:lnTo>
                  <a:lnTo>
                    <a:pt x="0" y="535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5" r="0" b="-1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4108771"/>
            <a:ext cx="8086725" cy="4016569"/>
            <a:chOff x="0" y="0"/>
            <a:chExt cx="10782300" cy="53554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5355463"/>
            </a:xfrm>
            <a:custGeom>
              <a:avLst/>
              <a:gdLst/>
              <a:ahLst/>
              <a:cxnLst/>
              <a:rect r="r" b="b" t="t" l="l"/>
              <a:pathLst>
                <a:path h="5355463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5355463"/>
                  </a:lnTo>
                  <a:lnTo>
                    <a:pt x="0" y="5355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5" r="0" b="-15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5. Applying AI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3411588"/>
            <a:ext cx="1657350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Target: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Complaint product category. Multiple supervised ML models were trained on TF-IDF features alongside a Deep Learning model on raw sequences.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8738" y="4523108"/>
            <a:ext cx="756094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Classical ML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5512" y="4523108"/>
            <a:ext cx="756094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Deep Learning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5512" y="5004121"/>
            <a:ext cx="7200900" cy="33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462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model_2.ipynb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385" y="4994596"/>
            <a:ext cx="71056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Logistic Regression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385" y="5491763"/>
            <a:ext cx="71056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Logistic Regression (Balanced)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6385" y="5960345"/>
            <a:ext cx="71056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LinearSVC (Balanced)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385" y="6486077"/>
            <a:ext cx="71056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Multinomial Naive Bayes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6385" y="6983235"/>
            <a:ext cx="71056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Calibrated LinearSVC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- via CalibratedClassifierCV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58412" y="5425230"/>
            <a:ext cx="70294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Embedding Layer (128 dims)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58412" y="5906100"/>
            <a:ext cx="70294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Bidirectional LSTM (64 units)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8412" y="6384207"/>
            <a:ext cx="70294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Bidirectional LSTM (32 units)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58412" y="6811008"/>
            <a:ext cx="70294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Dense (64, ReLU) + Dropout (0.5)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81260" y="7254697"/>
            <a:ext cx="70294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Dense (Softmax) Output Layer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738" y="5094608"/>
            <a:ext cx="142875" cy="228600"/>
            <a:chOff x="0" y="0"/>
            <a:chExt cx="190500" cy="304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8738" y="5591766"/>
            <a:ext cx="142875" cy="228600"/>
            <a:chOff x="0" y="0"/>
            <a:chExt cx="190500" cy="304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28738" y="6088932"/>
            <a:ext cx="142875" cy="228600"/>
            <a:chOff x="0" y="0"/>
            <a:chExt cx="190500" cy="304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28738" y="6586090"/>
            <a:ext cx="142875" cy="228600"/>
            <a:chOff x="0" y="0"/>
            <a:chExt cx="190500" cy="3048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28738" y="7083247"/>
            <a:ext cx="142875" cy="228600"/>
            <a:chOff x="0" y="0"/>
            <a:chExt cx="190500" cy="3048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1905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15512" y="5525243"/>
            <a:ext cx="257175" cy="228600"/>
            <a:chOff x="0" y="0"/>
            <a:chExt cx="342900" cy="3048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815512" y="5993825"/>
            <a:ext cx="257175" cy="228600"/>
            <a:chOff x="0" y="0"/>
            <a:chExt cx="342900" cy="3048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815512" y="6462417"/>
            <a:ext cx="257175" cy="228600"/>
            <a:chOff x="0" y="0"/>
            <a:chExt cx="342900" cy="3048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15512" y="6931000"/>
            <a:ext cx="257175" cy="228600"/>
            <a:chOff x="0" y="0"/>
            <a:chExt cx="342900" cy="3048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15512" y="7399582"/>
            <a:ext cx="257175" cy="228600"/>
            <a:chOff x="0" y="0"/>
            <a:chExt cx="342900" cy="3048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082653"/>
            <a:ext cx="5295748" cy="3429000"/>
            <a:chOff x="0" y="0"/>
            <a:chExt cx="7060997" cy="4572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60946" cy="4572000"/>
            </a:xfrm>
            <a:custGeom>
              <a:avLst/>
              <a:gdLst/>
              <a:ahLst/>
              <a:cxnLst/>
              <a:rect r="r" b="b" t="t" l="l"/>
              <a:pathLst>
                <a:path h="45720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1" r="0" b="-16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95898" y="4082653"/>
            <a:ext cx="5295976" cy="3429000"/>
            <a:chOff x="0" y="0"/>
            <a:chExt cx="7061302" cy="457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61327" cy="4572000"/>
            </a:xfrm>
            <a:custGeom>
              <a:avLst/>
              <a:gdLst/>
              <a:ahLst/>
              <a:cxnLst/>
              <a:rect r="r" b="b" t="t" l="l"/>
              <a:pathLst>
                <a:path h="457200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34774" y="4082653"/>
            <a:ext cx="5295748" cy="3429000"/>
            <a:chOff x="0" y="0"/>
            <a:chExt cx="7060997" cy="457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60946" cy="4572000"/>
            </a:xfrm>
            <a:custGeom>
              <a:avLst/>
              <a:gdLst/>
              <a:ahLst/>
              <a:cxnLst/>
              <a:rect r="r" b="b" t="t" l="l"/>
              <a:pathLst>
                <a:path h="457200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1" r="0" b="-16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5 — DEEP LEARNING DEEP DIVE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DL Architecture Rationale (model_2.ipynb)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5912" y="4494609"/>
            <a:ext cx="438277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Why RNN / LSTM?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4949428"/>
            <a:ext cx="440992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Complaint narratives are inherently </a:t>
            </a:r>
            <a:r>
              <a:rPr lang="en-US" sz="15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sequential text</a:t>
            </a: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Unlike TF-IDF which treats narratives as order-agnostic bags of words, Recurrent Neural Networks (specifically LSTMs) preserve word order and maintain long-term contextual syntax across full paragraphs.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15035" y="4487466"/>
            <a:ext cx="438300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Bidirectional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7385" y="4949428"/>
            <a:ext cx="4410151" cy="214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Bidirectional LSTM processes the narrative simultaneously </a:t>
            </a:r>
            <a:r>
              <a:rPr lang="en-US" sz="15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forward and backward</a:t>
            </a: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Each token's final state captures context from words that came BEFORE and AFTER it—critical because key phrases indicating the true category can appear anywhere in long complaints.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72961" y="4487466"/>
            <a:ext cx="43637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Stacked BiLSTM (64 → 32)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06261" y="4949428"/>
            <a:ext cx="440992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first </a:t>
            </a:r>
            <a:r>
              <a:rPr lang="en-US" sz="15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BiLSTM(64)</a:t>
            </a: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layer extracts broad contextual syntax across sequence steps. The second </a:t>
            </a:r>
            <a:r>
              <a:rPr lang="en-US" sz="15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BiLSTM(32)</a:t>
            </a: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layer compresses these sequences into a higher-level abstract feature representation before feeding into the Dense classification head.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8738" y="4539853"/>
            <a:ext cx="257175" cy="257175"/>
            <a:chOff x="0" y="0"/>
            <a:chExt cx="34290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77" r="0" b="-277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67385" y="4539853"/>
            <a:ext cx="257175" cy="257175"/>
            <a:chOff x="0" y="0"/>
            <a:chExt cx="342900" cy="3429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606261" y="4539853"/>
            <a:ext cx="285750" cy="257175"/>
            <a:chOff x="0" y="0"/>
            <a:chExt cx="381000" cy="3429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2" r="0" b="-26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905496"/>
            <a:ext cx="8086725" cy="1825447"/>
            <a:chOff x="0" y="0"/>
            <a:chExt cx="10782300" cy="243393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2433955"/>
            </a:xfrm>
            <a:custGeom>
              <a:avLst/>
              <a:gdLst/>
              <a:ahLst/>
              <a:cxnLst/>
              <a:rect r="r" b="b" t="t" l="l"/>
              <a:pathLst>
                <a:path h="2433955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433955"/>
                  </a:lnTo>
                  <a:lnTo>
                    <a:pt x="0" y="243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3" r="0" b="-4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2905496"/>
            <a:ext cx="8086725" cy="1825447"/>
            <a:chOff x="0" y="0"/>
            <a:chExt cx="10782300" cy="243393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2433955"/>
            </a:xfrm>
            <a:custGeom>
              <a:avLst/>
              <a:gdLst/>
              <a:ahLst/>
              <a:cxnLst/>
              <a:rect r="r" b="b" t="t" l="l"/>
              <a:pathLst>
                <a:path h="2433955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2433955"/>
                  </a:lnTo>
                  <a:lnTo>
                    <a:pt x="0" y="243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3" r="0" b="-48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Model Training &amp; Evaluation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0106" y="5009550"/>
            <a:ext cx="16587788" cy="3686175"/>
            <a:chOff x="0" y="0"/>
            <a:chExt cx="22117050" cy="4914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7050" cy="4914900"/>
            </a:xfrm>
            <a:custGeom>
              <a:avLst/>
              <a:gdLst/>
              <a:ahLst/>
              <a:cxnLst/>
              <a:rect r="r" b="b" t="t" l="l"/>
              <a:pathLst>
                <a:path h="4914900" w="22117050">
                  <a:moveTo>
                    <a:pt x="0" y="0"/>
                  </a:moveTo>
                  <a:lnTo>
                    <a:pt x="22117050" y="0"/>
                  </a:lnTo>
                  <a:lnTo>
                    <a:pt x="22117050" y="4914900"/>
                  </a:lnTo>
                  <a:lnTo>
                    <a:pt x="0" y="491490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57250" y="5016698"/>
          <a:ext cx="16554450" cy="3657600"/>
        </p:xfrm>
        <a:graphic>
          <a:graphicData uri="http://schemas.openxmlformats.org/drawingml/2006/table">
            <a:tbl>
              <a:tblPr/>
              <a:tblGrid>
                <a:gridCol w="10753258"/>
                <a:gridCol w="2999601"/>
                <a:gridCol w="2801591"/>
              </a:tblGrid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F1-Score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Logistic Regression (balanced)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84%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0.84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LinearSVC (Balanced)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86%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0.86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Multinomial NB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82%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0.82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059669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Calibrated LinearSVC (Production Selected)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0596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86%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0596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0.86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609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BiLSTM (DL)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85%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0.85</a:t>
                      </a:r>
                      <a:endParaRPr lang="en-US" sz="1100"/>
                    </a:p>
                  </a:txBody>
                  <a:tcPr marL="70732" marR="70732" marT="70732" marB="7073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857250" y="5609625"/>
            <a:ext cx="10765631" cy="14288"/>
            <a:chOff x="0" y="0"/>
            <a:chExt cx="14354175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54175" cy="19050"/>
            </a:xfrm>
            <a:custGeom>
              <a:avLst/>
              <a:gdLst/>
              <a:ahLst/>
              <a:cxnLst/>
              <a:rect r="r" b="b" t="t" l="l"/>
              <a:pathLst>
                <a:path h="19050" w="14354175">
                  <a:moveTo>
                    <a:pt x="0" y="0"/>
                  </a:moveTo>
                  <a:lnTo>
                    <a:pt x="14354175" y="0"/>
                  </a:lnTo>
                  <a:lnTo>
                    <a:pt x="14354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22881" y="5609625"/>
            <a:ext cx="3003052" cy="14288"/>
            <a:chOff x="0" y="0"/>
            <a:chExt cx="4004069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04056" cy="19050"/>
            </a:xfrm>
            <a:custGeom>
              <a:avLst/>
              <a:gdLst/>
              <a:ahLst/>
              <a:cxnLst/>
              <a:rect r="r" b="b" t="t" l="l"/>
              <a:pathLst>
                <a:path h="19050" w="4004056">
                  <a:moveTo>
                    <a:pt x="0" y="0"/>
                  </a:moveTo>
                  <a:lnTo>
                    <a:pt x="4004056" y="0"/>
                  </a:lnTo>
                  <a:lnTo>
                    <a:pt x="40040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25933" y="5609625"/>
            <a:ext cx="2804817" cy="14288"/>
            <a:chOff x="0" y="0"/>
            <a:chExt cx="3739756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39769" cy="19050"/>
            </a:xfrm>
            <a:custGeom>
              <a:avLst/>
              <a:gdLst/>
              <a:ahLst/>
              <a:cxnLst/>
              <a:rect r="r" b="b" t="t" l="l"/>
              <a:pathLst>
                <a:path h="19050" w="3739769">
                  <a:moveTo>
                    <a:pt x="0" y="0"/>
                  </a:moveTo>
                  <a:lnTo>
                    <a:pt x="3739769" y="0"/>
                  </a:lnTo>
                  <a:lnTo>
                    <a:pt x="3739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4438" y="3167434"/>
            <a:ext cx="77409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DL Training Setup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438" y="3500809"/>
            <a:ext cx="7372350" cy="95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Tokenizer: </a:t>
            </a:r>
            <a:r>
              <a:rPr lang="en-US" sz="1518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max_words = 10,000</a:t>
            </a: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-US" sz="1518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max_len = 200</a:t>
            </a:r>
          </a:p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Optimizer: Adam | Loss: sparse_categorical_crossentropy</a:t>
            </a:r>
          </a:p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Batch size: 32 | Max Epochs: 20 (Early Stopping patience=5)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01212" y="3167434"/>
            <a:ext cx="774096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Evaluation Approach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01212" y="3500809"/>
            <a:ext cx="7372350" cy="64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Evaluated using Classification Report, Confusion Matrix, and Accuracy / Precision / Recall / F1-Score per model across all 5 financial product classes.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6223987"/>
            <a:ext cx="10765631" cy="14288"/>
            <a:chOff x="0" y="0"/>
            <a:chExt cx="14354175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354175" cy="19050"/>
            </a:xfrm>
            <a:custGeom>
              <a:avLst/>
              <a:gdLst/>
              <a:ahLst/>
              <a:cxnLst/>
              <a:rect r="r" b="b" t="t" l="l"/>
              <a:pathLst>
                <a:path h="19050" w="14354175">
                  <a:moveTo>
                    <a:pt x="0" y="0"/>
                  </a:moveTo>
                  <a:lnTo>
                    <a:pt x="14354175" y="0"/>
                  </a:lnTo>
                  <a:lnTo>
                    <a:pt x="14354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22881" y="6223987"/>
            <a:ext cx="3003052" cy="14288"/>
            <a:chOff x="0" y="0"/>
            <a:chExt cx="4004069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04056" cy="19050"/>
            </a:xfrm>
            <a:custGeom>
              <a:avLst/>
              <a:gdLst/>
              <a:ahLst/>
              <a:cxnLst/>
              <a:rect r="r" b="b" t="t" l="l"/>
              <a:pathLst>
                <a:path h="19050" w="4004056">
                  <a:moveTo>
                    <a:pt x="0" y="0"/>
                  </a:moveTo>
                  <a:lnTo>
                    <a:pt x="4004056" y="0"/>
                  </a:lnTo>
                  <a:lnTo>
                    <a:pt x="40040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625933" y="6223987"/>
            <a:ext cx="2804817" cy="14288"/>
            <a:chOff x="0" y="0"/>
            <a:chExt cx="3739756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39769" cy="19050"/>
            </a:xfrm>
            <a:custGeom>
              <a:avLst/>
              <a:gdLst/>
              <a:ahLst/>
              <a:cxnLst/>
              <a:rect r="r" b="b" t="t" l="l"/>
              <a:pathLst>
                <a:path h="19050" w="3739769">
                  <a:moveTo>
                    <a:pt x="0" y="0"/>
                  </a:moveTo>
                  <a:lnTo>
                    <a:pt x="3739769" y="0"/>
                  </a:lnTo>
                  <a:lnTo>
                    <a:pt x="3739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" y="6838350"/>
            <a:ext cx="10765631" cy="14288"/>
            <a:chOff x="0" y="0"/>
            <a:chExt cx="14354175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354175" cy="19050"/>
            </a:xfrm>
            <a:custGeom>
              <a:avLst/>
              <a:gdLst/>
              <a:ahLst/>
              <a:cxnLst/>
              <a:rect r="r" b="b" t="t" l="l"/>
              <a:pathLst>
                <a:path h="19050" w="14354175">
                  <a:moveTo>
                    <a:pt x="0" y="0"/>
                  </a:moveTo>
                  <a:lnTo>
                    <a:pt x="14354175" y="0"/>
                  </a:lnTo>
                  <a:lnTo>
                    <a:pt x="14354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22881" y="6838350"/>
            <a:ext cx="3003052" cy="14288"/>
            <a:chOff x="0" y="0"/>
            <a:chExt cx="4004069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04056" cy="19050"/>
            </a:xfrm>
            <a:custGeom>
              <a:avLst/>
              <a:gdLst/>
              <a:ahLst/>
              <a:cxnLst/>
              <a:rect r="r" b="b" t="t" l="l"/>
              <a:pathLst>
                <a:path h="19050" w="4004056">
                  <a:moveTo>
                    <a:pt x="0" y="0"/>
                  </a:moveTo>
                  <a:lnTo>
                    <a:pt x="4004056" y="0"/>
                  </a:lnTo>
                  <a:lnTo>
                    <a:pt x="40040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25933" y="6838350"/>
            <a:ext cx="2804817" cy="14288"/>
            <a:chOff x="0" y="0"/>
            <a:chExt cx="3739756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39769" cy="19050"/>
            </a:xfrm>
            <a:custGeom>
              <a:avLst/>
              <a:gdLst/>
              <a:ahLst/>
              <a:cxnLst/>
              <a:rect r="r" b="b" t="t" l="l"/>
              <a:pathLst>
                <a:path h="19050" w="3739769">
                  <a:moveTo>
                    <a:pt x="0" y="0"/>
                  </a:moveTo>
                  <a:lnTo>
                    <a:pt x="3739769" y="0"/>
                  </a:lnTo>
                  <a:lnTo>
                    <a:pt x="3739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57250" y="7452712"/>
            <a:ext cx="10765631" cy="14288"/>
            <a:chOff x="0" y="0"/>
            <a:chExt cx="14354175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354175" cy="19050"/>
            </a:xfrm>
            <a:custGeom>
              <a:avLst/>
              <a:gdLst/>
              <a:ahLst/>
              <a:cxnLst/>
              <a:rect r="r" b="b" t="t" l="l"/>
              <a:pathLst>
                <a:path h="19050" w="14354175">
                  <a:moveTo>
                    <a:pt x="0" y="0"/>
                  </a:moveTo>
                  <a:lnTo>
                    <a:pt x="14354175" y="0"/>
                  </a:lnTo>
                  <a:lnTo>
                    <a:pt x="14354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22881" y="7452712"/>
            <a:ext cx="3003052" cy="14288"/>
            <a:chOff x="0" y="0"/>
            <a:chExt cx="4004069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04056" cy="19050"/>
            </a:xfrm>
            <a:custGeom>
              <a:avLst/>
              <a:gdLst/>
              <a:ahLst/>
              <a:cxnLst/>
              <a:rect r="r" b="b" t="t" l="l"/>
              <a:pathLst>
                <a:path h="19050" w="4004056">
                  <a:moveTo>
                    <a:pt x="0" y="0"/>
                  </a:moveTo>
                  <a:lnTo>
                    <a:pt x="4004056" y="0"/>
                  </a:lnTo>
                  <a:lnTo>
                    <a:pt x="40040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625933" y="7452712"/>
            <a:ext cx="2804817" cy="14288"/>
            <a:chOff x="0" y="0"/>
            <a:chExt cx="3739756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39769" cy="19050"/>
            </a:xfrm>
            <a:custGeom>
              <a:avLst/>
              <a:gdLst/>
              <a:ahLst/>
              <a:cxnLst/>
              <a:rect r="r" b="b" t="t" l="l"/>
              <a:pathLst>
                <a:path h="19050" w="3739769">
                  <a:moveTo>
                    <a:pt x="0" y="0"/>
                  </a:moveTo>
                  <a:lnTo>
                    <a:pt x="3739769" y="0"/>
                  </a:lnTo>
                  <a:lnTo>
                    <a:pt x="3739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57250" y="8067075"/>
            <a:ext cx="10765631" cy="14288"/>
            <a:chOff x="0" y="0"/>
            <a:chExt cx="14354175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54175" cy="19050"/>
            </a:xfrm>
            <a:custGeom>
              <a:avLst/>
              <a:gdLst/>
              <a:ahLst/>
              <a:cxnLst/>
              <a:rect r="r" b="b" t="t" l="l"/>
              <a:pathLst>
                <a:path h="19050" w="14354175">
                  <a:moveTo>
                    <a:pt x="0" y="0"/>
                  </a:moveTo>
                  <a:lnTo>
                    <a:pt x="14354175" y="0"/>
                  </a:lnTo>
                  <a:lnTo>
                    <a:pt x="143541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22881" y="8067075"/>
            <a:ext cx="3003052" cy="14288"/>
            <a:chOff x="0" y="0"/>
            <a:chExt cx="4004069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04056" cy="19050"/>
            </a:xfrm>
            <a:custGeom>
              <a:avLst/>
              <a:gdLst/>
              <a:ahLst/>
              <a:cxnLst/>
              <a:rect r="r" b="b" t="t" l="l"/>
              <a:pathLst>
                <a:path h="19050" w="4004056">
                  <a:moveTo>
                    <a:pt x="0" y="0"/>
                  </a:moveTo>
                  <a:lnTo>
                    <a:pt x="4004056" y="0"/>
                  </a:lnTo>
                  <a:lnTo>
                    <a:pt x="40040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625933" y="8067075"/>
            <a:ext cx="2804817" cy="14288"/>
            <a:chOff x="0" y="0"/>
            <a:chExt cx="3739756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39769" cy="19050"/>
            </a:xfrm>
            <a:custGeom>
              <a:avLst/>
              <a:gdLst/>
              <a:ahLst/>
              <a:cxnLst/>
              <a:rect r="r" b="b" t="t" l="l"/>
              <a:pathLst>
                <a:path h="19050" w="3739769">
                  <a:moveTo>
                    <a:pt x="0" y="0"/>
                  </a:moveTo>
                  <a:lnTo>
                    <a:pt x="3739769" y="0"/>
                  </a:lnTo>
                  <a:lnTo>
                    <a:pt x="3739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02790" y="7674169"/>
            <a:ext cx="228600" cy="207169"/>
            <a:chOff x="0" y="0"/>
            <a:chExt cx="304800" cy="276225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304800" cy="276225"/>
            </a:xfrm>
            <a:custGeom>
              <a:avLst/>
              <a:gdLst/>
              <a:ahLst/>
              <a:cxnLst/>
              <a:rect r="r" b="b" t="t" l="l"/>
              <a:pathLst>
                <a:path h="276225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76225"/>
                  </a:lnTo>
                  <a:lnTo>
                    <a:pt x="0" y="27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24" r="0" b="-1724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MODEL EVALUATION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Classical ML vs Deep Learning (BiLSTM)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0106" y="3332559"/>
            <a:ext cx="16587788" cy="3843338"/>
            <a:chOff x="0" y="0"/>
            <a:chExt cx="22117050" cy="5124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17050" cy="5124450"/>
            </a:xfrm>
            <a:custGeom>
              <a:avLst/>
              <a:gdLst/>
              <a:ahLst/>
              <a:cxnLst/>
              <a:rect r="r" b="b" t="t" l="l"/>
              <a:pathLst>
                <a:path h="5124450" w="22117050">
                  <a:moveTo>
                    <a:pt x="0" y="0"/>
                  </a:moveTo>
                  <a:lnTo>
                    <a:pt x="22117050" y="0"/>
                  </a:lnTo>
                  <a:lnTo>
                    <a:pt x="22117050" y="5124450"/>
                  </a:lnTo>
                  <a:lnTo>
                    <a:pt x="0" y="512445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57250" y="3339702"/>
          <a:ext cx="16554450" cy="3810000"/>
        </p:xfrm>
        <a:graphic>
          <a:graphicData uri="http://schemas.openxmlformats.org/drawingml/2006/table">
            <a:tbl>
              <a:tblPr/>
              <a:tblGrid>
                <a:gridCol w="3641800"/>
                <a:gridCol w="6456102"/>
                <a:gridCol w="6456548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 Dimension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Calibrated LinearSVC (Best Classical ML)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Stacked BiLSTM (Deep Learning)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Accuracy / F1-Score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059669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86% / 0.86</a:t>
                      </a: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(Slightly superior generalization)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83% / 0.83</a:t>
                      </a: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(Highly competitive)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Training &amp; Compute Cost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0596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Lightweight &amp; Ultra-fast:</a:t>
                      </a: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Trains on CPU in seconds; low memory footprint during inference.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Heavy Compute: Requires GPU acceleration, long training epochs, and larger runtime memory.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Context Handling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TF-IDF n-grams (1-2 words). Relies on word frequency, ignoring global word order.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Captures full sequential word dependencies and contextual context both forward and backward.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 b="true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Interpretability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0596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High:</a:t>
                      </a: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Feature weights directly reveal top predictive keywords per category.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6"/>
                        </a:lnSpc>
                        <a:defRPr/>
                      </a:pPr>
                      <a:r>
                        <a:rPr lang="en-US" sz="163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("Black Box"): Complex non-linear neural activations hard to interpret directly.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57250" y="7397353"/>
            <a:ext cx="16573500" cy="857250"/>
            <a:chOff x="0" y="0"/>
            <a:chExt cx="22098000" cy="11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9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85850" y="7568803"/>
            <a:ext cx="16116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E40AF"/>
                </a:solidFill>
                <a:latin typeface="DM Sans Bold"/>
                <a:ea typeface="DM Sans Bold"/>
                <a:cs typeface="DM Sans Bold"/>
                <a:sym typeface="DM Sans Bold"/>
              </a:rPr>
              <a:t>Final Selection Decision:</a:t>
            </a:r>
            <a:r>
              <a:rPr lang="en-US" sz="1575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Calibrated LinearSVC was chosen for production deployment due to its superior accuracy, minimal CPU latency, lower infrastructure overhead, and capability to provide calibrated probability scores needed for routing.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7250" y="7397353"/>
            <a:ext cx="57150" cy="857250"/>
            <a:chOff x="0" y="0"/>
            <a:chExt cx="76200" cy="114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712740"/>
            <a:ext cx="8086725" cy="4168826"/>
            <a:chOff x="0" y="0"/>
            <a:chExt cx="10782300" cy="555843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82300" cy="5558409"/>
            </a:xfrm>
            <a:custGeom>
              <a:avLst/>
              <a:gdLst/>
              <a:ahLst/>
              <a:cxnLst/>
              <a:rect r="r" b="b" t="t" l="l"/>
              <a:pathLst>
                <a:path h="5558409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5558409"/>
                  </a:lnTo>
                  <a:lnTo>
                    <a:pt x="0" y="555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" r="0" b="-2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3968801"/>
            <a:ext cx="8086725" cy="3656705"/>
            <a:chOff x="0" y="0"/>
            <a:chExt cx="10782300" cy="487560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4875657"/>
            </a:xfrm>
            <a:custGeom>
              <a:avLst/>
              <a:gdLst/>
              <a:ahLst/>
              <a:cxnLst/>
              <a:rect r="r" b="b" t="t" l="l"/>
              <a:pathLst>
                <a:path h="4875657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4875657"/>
                  </a:lnTo>
                  <a:lnTo>
                    <a:pt x="0" y="487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7" r="0" b="-20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6. 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8738" y="4127078"/>
            <a:ext cx="7560945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Inference Pipeline (classifier.py)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0188" y="4654286"/>
            <a:ext cx="1143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0688" y="4598565"/>
            <a:ext cx="68389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Load 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calibrated_svc_model.pkl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&amp; </a:t>
            </a: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tfidf_vectorizer.pkl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038" y="5180019"/>
            <a:ext cx="17145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8788" y="5124298"/>
            <a:ext cx="68008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clean_text()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lowercase, strip redactions/symbols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3038" y="5705761"/>
            <a:ext cx="17145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8788" y="5650040"/>
            <a:ext cx="6800850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vectorizer.transform()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→ TF-IDF vector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750" y="6231493"/>
            <a:ext cx="185738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8312" y="6175772"/>
            <a:ext cx="6791325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model.predict_proba()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→ class probabilities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50" y="6757225"/>
            <a:ext cx="185738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8312" y="6701504"/>
            <a:ext cx="6791325" cy="76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Routing Decision:</a:t>
            </a:r>
            <a:r>
              <a:rPr lang="en-US" sz="18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If max probability ≥ 0.70 → predicted class, otherwise → </a:t>
            </a:r>
            <a:r>
              <a:rPr lang="en-US" sz="1800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"Other Problem"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9775" y="4140251"/>
            <a:ext cx="7515225" cy="36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518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EXAMPLE INFERENCE CALL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15675" y="4900165"/>
            <a:ext cx="37719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518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"models/calibrated_svc_model.pkl"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87075" y="5208689"/>
            <a:ext cx="33147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518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"models/tfidf_vectorizer.pkl"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9775" y="6442767"/>
            <a:ext cx="6972300" cy="6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518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"I have been charged a late fee on my visa but I paid it on time!"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025525"/>
            <a:ext cx="16573500" cy="2637825"/>
            <a:chOff x="0" y="0"/>
            <a:chExt cx="22098000" cy="35171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3517138"/>
            </a:xfrm>
            <a:custGeom>
              <a:avLst/>
              <a:gdLst/>
              <a:ahLst/>
              <a:cxnLst/>
              <a:rect r="r" b="b" t="t" l="l"/>
              <a:pathLst>
                <a:path h="3517138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517138"/>
                  </a:lnTo>
                  <a:lnTo>
                    <a:pt x="0" y="351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2" r="0" b="-3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930719"/>
            <a:ext cx="8086725" cy="2809056"/>
            <a:chOff x="0" y="0"/>
            <a:chExt cx="10782300" cy="374540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82300" cy="3745357"/>
            </a:xfrm>
            <a:custGeom>
              <a:avLst/>
              <a:gdLst/>
              <a:ahLst/>
              <a:cxnLst/>
              <a:rect r="r" b="b" t="t" l="l"/>
              <a:pathLst>
                <a:path h="3745357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3745357"/>
                  </a:lnTo>
                  <a:lnTo>
                    <a:pt x="0" y="3745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9" r="0" b="-1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44025" y="2930719"/>
            <a:ext cx="8086725" cy="2809056"/>
            <a:chOff x="0" y="0"/>
            <a:chExt cx="10782300" cy="374540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782300" cy="3745357"/>
            </a:xfrm>
            <a:custGeom>
              <a:avLst/>
              <a:gdLst/>
              <a:ahLst/>
              <a:cxnLst/>
              <a:rect r="r" b="b" t="t" l="l"/>
              <a:pathLst>
                <a:path h="3745357" w="10782300">
                  <a:moveTo>
                    <a:pt x="0" y="0"/>
                  </a:moveTo>
                  <a:lnTo>
                    <a:pt x="10782300" y="0"/>
                  </a:lnTo>
                  <a:lnTo>
                    <a:pt x="10782300" y="3745357"/>
                  </a:lnTo>
                  <a:lnTo>
                    <a:pt x="0" y="3745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9" r="0" b="-10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6874745"/>
            <a:ext cx="2760393" cy="1396603"/>
            <a:chOff x="0" y="0"/>
            <a:chExt cx="3680524" cy="186213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680460" cy="1862074"/>
            </a:xfrm>
            <a:custGeom>
              <a:avLst/>
              <a:gdLst/>
              <a:ahLst/>
              <a:cxnLst/>
              <a:rect r="r" b="b" t="t" l="l"/>
              <a:pathLst>
                <a:path h="1862074" w="3680460">
                  <a:moveTo>
                    <a:pt x="0" y="0"/>
                  </a:moveTo>
                  <a:lnTo>
                    <a:pt x="3680460" y="0"/>
                  </a:lnTo>
                  <a:lnTo>
                    <a:pt x="3680460" y="1862074"/>
                  </a:lnTo>
                  <a:lnTo>
                    <a:pt x="0" y="1862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6" t="0" r="-337" b="-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32043" y="6874745"/>
            <a:ext cx="2760393" cy="1396603"/>
            <a:chOff x="0" y="0"/>
            <a:chExt cx="3680524" cy="186213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680460" cy="1862074"/>
            </a:xfrm>
            <a:custGeom>
              <a:avLst/>
              <a:gdLst/>
              <a:ahLst/>
              <a:cxnLst/>
              <a:rect r="r" b="b" t="t" l="l"/>
              <a:pathLst>
                <a:path h="1862074" w="3680460">
                  <a:moveTo>
                    <a:pt x="0" y="0"/>
                  </a:moveTo>
                  <a:lnTo>
                    <a:pt x="3680460" y="0"/>
                  </a:lnTo>
                  <a:lnTo>
                    <a:pt x="3680460" y="1862074"/>
                  </a:lnTo>
                  <a:lnTo>
                    <a:pt x="0" y="1862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36" t="0" r="-337" b="-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92488" y="6874745"/>
            <a:ext cx="2760393" cy="1396603"/>
            <a:chOff x="0" y="0"/>
            <a:chExt cx="3680524" cy="1862138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680460" cy="1862074"/>
            </a:xfrm>
            <a:custGeom>
              <a:avLst/>
              <a:gdLst/>
              <a:ahLst/>
              <a:cxnLst/>
              <a:rect r="r" b="b" t="t" l="l"/>
              <a:pathLst>
                <a:path h="1862074" w="3680460">
                  <a:moveTo>
                    <a:pt x="0" y="0"/>
                  </a:moveTo>
                  <a:lnTo>
                    <a:pt x="3680460" y="0"/>
                  </a:lnTo>
                  <a:lnTo>
                    <a:pt x="3680460" y="1862074"/>
                  </a:lnTo>
                  <a:lnTo>
                    <a:pt x="0" y="1862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94" t="0" r="-595" b="-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52943" y="6874745"/>
            <a:ext cx="2760393" cy="1396603"/>
            <a:chOff x="0" y="0"/>
            <a:chExt cx="3680524" cy="1862138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680460" cy="1862074"/>
            </a:xfrm>
            <a:custGeom>
              <a:avLst/>
              <a:gdLst/>
              <a:ahLst/>
              <a:cxnLst/>
              <a:rect r="r" b="b" t="t" l="l"/>
              <a:pathLst>
                <a:path h="1862074" w="3680460">
                  <a:moveTo>
                    <a:pt x="0" y="0"/>
                  </a:moveTo>
                  <a:lnTo>
                    <a:pt x="3680460" y="0"/>
                  </a:lnTo>
                  <a:lnTo>
                    <a:pt x="3680460" y="1862074"/>
                  </a:lnTo>
                  <a:lnTo>
                    <a:pt x="0" y="1862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36" t="0" r="-337" b="-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313398" y="6754187"/>
            <a:ext cx="2760393" cy="1637700"/>
            <a:chOff x="0" y="0"/>
            <a:chExt cx="3680524" cy="21836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680460" cy="2183638"/>
            </a:xfrm>
            <a:custGeom>
              <a:avLst/>
              <a:gdLst/>
              <a:ahLst/>
              <a:cxnLst/>
              <a:rect r="r" b="b" t="t" l="l"/>
              <a:pathLst>
                <a:path h="2183638" w="3680460">
                  <a:moveTo>
                    <a:pt x="0" y="0"/>
                  </a:moveTo>
                  <a:lnTo>
                    <a:pt x="3680460" y="0"/>
                  </a:lnTo>
                  <a:lnTo>
                    <a:pt x="3680460" y="2183638"/>
                  </a:lnTo>
                  <a:lnTo>
                    <a:pt x="0" y="2183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2" t="0" r="-124" b="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PHASE 6 — TECHNICAL IMPLEMENTATION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Deployment Implementation Details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588" y="6287462"/>
            <a:ext cx="1659207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Step-by-Step Inference 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2186" y="3345056"/>
            <a:ext cx="73418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Role of CalibratedClassifierCV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8738" y="3783206"/>
            <a:ext cx="7200900" cy="154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Standard LinearSVC outputs uncalibrated decision function scores (distance to hyperplane) rather than true probabilities. Wrapping LinearSVC inside </a:t>
            </a:r>
            <a:r>
              <a:rPr lang="en-US" sz="1518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CalibratedClassifierCV (Platt Scaling)</a:t>
            </a: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transforms raw scores into well-calibrated posterior probabilities, making the </a:t>
            </a:r>
            <a:r>
              <a:rPr lang="en-US" sz="1518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0.70 confidence threshold</a:t>
            </a: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mathematically meaningful.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39375" y="3345056"/>
            <a:ext cx="73418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Production Considerations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5512" y="3783206"/>
            <a:ext cx="7200900" cy="12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Models are serialized with </a:t>
            </a:r>
            <a:r>
              <a:rPr lang="en-US" sz="1518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joblib</a:t>
            </a: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and initialized </a:t>
            </a:r>
            <a:r>
              <a:rPr lang="en-US" sz="1518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once at application startup</a:t>
            </a:r>
            <a:r>
              <a:rPr lang="en-US" sz="1518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(cached in memory) to prevent disk I/O latency per request. The pipeline is designed to be easily encapsulated into a lightweight REST API (FastAPI) or a Streamlit UI for real-time classification.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28738" y="3373631"/>
            <a:ext cx="242888" cy="242888"/>
            <a:chOff x="0" y="0"/>
            <a:chExt cx="323850" cy="3238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941" r="0" b="-294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15512" y="3373631"/>
            <a:ext cx="242888" cy="242888"/>
            <a:chOff x="0" y="0"/>
            <a:chExt cx="323850" cy="3238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23850" cy="323850"/>
            </a:xfrm>
            <a:custGeom>
              <a:avLst/>
              <a:gdLst/>
              <a:ahLst/>
              <a:cxnLst/>
              <a:rect r="r" b="b" t="t" l="l"/>
              <a:pathLst>
                <a:path h="3238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941" r="0" b="-2941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57611" y="7146207"/>
            <a:ext cx="2388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1. Raw Text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4475" y="7498632"/>
            <a:ext cx="2274618" cy="50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Input complaint narrative received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203430" y="7444454"/>
            <a:ext cx="157162" cy="257175"/>
            <a:chOff x="0" y="0"/>
            <a:chExt cx="209550" cy="3429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672" t="0" r="-1678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4718056" y="7146207"/>
            <a:ext cx="2388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2. Clean Text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74930" y="7498632"/>
            <a:ext cx="2274618" cy="50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Lowercase, remove redactions &amp; symbols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463876" y="7444454"/>
            <a:ext cx="157162" cy="257175"/>
            <a:chOff x="0" y="0"/>
            <a:chExt cx="209550" cy="3429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672" t="0" r="-1678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978511" y="7146207"/>
            <a:ext cx="2388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3. TF-IDF Vector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35376" y="7498632"/>
            <a:ext cx="2274618" cy="50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Transform text to feature matrix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724331" y="7444454"/>
            <a:ext cx="157162" cy="257175"/>
            <a:chOff x="0" y="0"/>
            <a:chExt cx="209550" cy="3429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672" t="0" r="-1678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238967" y="7146207"/>
            <a:ext cx="2388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4. Predict Proba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95831" y="7498632"/>
            <a:ext cx="2274618" cy="50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Calculate probability distribution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984786" y="7444454"/>
            <a:ext cx="157162" cy="257175"/>
            <a:chOff x="0" y="0"/>
            <a:chExt cx="209550" cy="3429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672" t="0" r="-1678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499422" y="7025650"/>
            <a:ext cx="2388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5. Threshold Check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56286" y="7378075"/>
            <a:ext cx="2274618" cy="74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Prob ≥ 0.70 → Category</a:t>
            </a:r>
          </a:p>
          <a:p>
            <a:pPr algn="ctr">
              <a:lnSpc>
                <a:spcPts val="1897"/>
              </a:lnSpc>
            </a:pPr>
            <a:r>
              <a:rPr lang="en-US" sz="1405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Prob &lt; 0.70 → Other Problem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4012997"/>
            <a:ext cx="5295748" cy="3568303"/>
            <a:chOff x="0" y="0"/>
            <a:chExt cx="7060997" cy="475773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60946" cy="4757674"/>
            </a:xfrm>
            <a:custGeom>
              <a:avLst/>
              <a:gdLst/>
              <a:ahLst/>
              <a:cxnLst/>
              <a:rect r="r" b="b" t="t" l="l"/>
              <a:pathLst>
                <a:path h="4757674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4757674"/>
                  </a:lnTo>
                  <a:lnTo>
                    <a:pt x="0" y="475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3" r="0" b="-20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95898" y="4012997"/>
            <a:ext cx="5295976" cy="3568303"/>
            <a:chOff x="0" y="0"/>
            <a:chExt cx="7061302" cy="475773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61327" cy="4757674"/>
            </a:xfrm>
            <a:custGeom>
              <a:avLst/>
              <a:gdLst/>
              <a:ahLst/>
              <a:cxnLst/>
              <a:rect r="r" b="b" t="t" l="l"/>
              <a:pathLst>
                <a:path h="4757674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4757674"/>
                  </a:lnTo>
                  <a:lnTo>
                    <a:pt x="0" y="475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34774" y="4012997"/>
            <a:ext cx="5295748" cy="3568303"/>
            <a:chOff x="0" y="0"/>
            <a:chExt cx="7060997" cy="475773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60946" cy="4757674"/>
            </a:xfrm>
            <a:custGeom>
              <a:avLst/>
              <a:gdLst/>
              <a:ahLst/>
              <a:cxnLst/>
              <a:rect r="r" b="b" t="t" l="l"/>
              <a:pathLst>
                <a:path h="4757674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4757674"/>
                  </a:lnTo>
                  <a:lnTo>
                    <a:pt x="0" y="475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3" r="0" b="-20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714375"/>
            <a:ext cx="165735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1052512"/>
            <a:ext cx="17402175" cy="62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4427334"/>
            <a:ext cx="4409923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284C7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5089322"/>
            <a:ext cx="46304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End-to-End NLP Pipeline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738" y="5541759"/>
            <a:ext cx="4409923" cy="98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Built an end-to-end NLP pipeline that classifies customer complaints into 5 product categories from the CFPB dataset.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7385" y="4427334"/>
            <a:ext cx="4410151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2942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7385" y="5089322"/>
            <a:ext cx="463065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Comprehensive Model Comparison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67385" y="5870372"/>
            <a:ext cx="4410151" cy="129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Compared multiple classical ML models (Logistic Regression, LinearSVC, Naive Bayes) alongside a Bidirectional LSTM deep learning model.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06261" y="4427334"/>
            <a:ext cx="4409923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97316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06261" y="5089322"/>
            <a:ext cx="463042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2942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Reliable Production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6261" y="5541759"/>
            <a:ext cx="4409923" cy="129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Deployed a calibrated model with a confidence threshold, ensuring uncertain complaints are safely routed for manual review rather than misclassified.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28308"/>
            <a:ext cx="16573500" cy="914400"/>
            <a:chOff x="0" y="0"/>
            <a:chExt cx="22098000" cy="1219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81" r="0" b="-7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42912" y="4476083"/>
            <a:ext cx="1740217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5714333"/>
            <a:ext cx="16573500" cy="57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</a:pPr>
            <a:r>
              <a:rPr lang="en-US" sz="2475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Customer Complaints Classification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6715792"/>
            <a:ext cx="16573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DAHTcHCbrTs</dc:identifier>
  <dcterms:modified xsi:type="dcterms:W3CDTF">2011-08-01T06:04:30Z</dcterms:modified>
  <cp:revision>1</cp:revision>
  <dc:title>Customer Complaints Classification last.pptx</dc:title>
</cp:coreProperties>
</file>